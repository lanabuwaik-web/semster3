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Penjualan (Rp)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,,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Malang</c:v>
                  </c:pt>
                  <c:pt idx="1">
                    <c:v>Surabaya</c:v>
                  </c:pt>
                  <c:pt idx="2">
                    <c:v>Jakarta</c:v>
                  </c:pt>
                  <c:pt idx="3">
                    <c:v>Bandung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10484886000</c:v>
                </c:pt>
                <c:pt idx="1">
                  <c:v>9652564000</c:v>
                </c:pt>
                <c:pt idx="2">
                  <c:v>7890078000</c:v>
                </c:pt>
                <c:pt idx="3">
                  <c:v>4694552000</c:v>
                </c:pt>
              </c:numCache>
            </c:numRef>
          </c:val>
        </c:ser>
        <c:dLbls>
          <c:numFmt formatCode="#,##0,,&quot;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Metode Pembayaran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5A8CA8"/>
              </a:solidFill>
              <a:effectLst/>
            </c:spPr>
          </c:dPt>
          <c:dPt>
            <c:idx val="3"/>
            <c:bubble3D val="0"/>
            <c:spPr>
              <a:solidFill>
                <a:srgbClr val="A7C4D3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.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E-Wallet</c:v>
                </c:pt>
                <c:pt idx="1">
                  <c:v>Debit</c:v>
                </c:pt>
                <c:pt idx="2">
                  <c:v>Kredit</c:v>
                </c:pt>
                <c:pt idx="3">
                  <c:v>Tunai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34.9</c:v>
                </c:pt>
                <c:pt idx="1">
                  <c:v>30.5</c:v>
                </c:pt>
                <c:pt idx="2">
                  <c:v>20</c:v>
                </c:pt>
                <c:pt idx="3">
                  <c:v>14.5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7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Jumlah Produk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0-2jt</c:v>
                  </c:pt>
                  <c:pt idx="1">
                    <c:v>2-4jt</c:v>
                  </c:pt>
                  <c:pt idx="2">
                    <c:v>4-6jt</c:v>
                  </c:pt>
                  <c:pt idx="3">
                    <c:v>6-8jt</c:v>
                  </c:pt>
                  <c:pt idx="4">
                    <c:v>8-10jt</c:v>
                  </c:pt>
                  <c:pt idx="5">
                    <c:v>10-12jt</c:v>
                  </c:pt>
                  <c:pt idx="6">
                    <c:v>12-14jt</c:v>
                  </c:pt>
                  <c:pt idx="7">
                    <c:v>14-16jt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680</c:v>
                </c:pt>
                <c:pt idx="1">
                  <c:v>344</c:v>
                </c:pt>
                <c:pt idx="2">
                  <c:v>393</c:v>
                </c:pt>
                <c:pt idx="3">
                  <c:v>380</c:v>
                </c:pt>
                <c:pt idx="4">
                  <c:v>109</c:v>
                </c:pt>
                <c:pt idx="5">
                  <c:v>120</c:v>
                </c:pt>
                <c:pt idx="6">
                  <c:v>118</c:v>
                </c:pt>
                <c:pt idx="7">
                  <c:v>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Penjualan (Rp)</c:v>
                </c:pt>
              </c:strCache>
            </c:strRef>
          </c:tx>
          <c:spPr>
            <a:solidFill>
              <a:srgbClr val="065A82"/>
            </a:solidFill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5216486000</c:v>
                </c:pt>
                <c:pt idx="1">
                  <c:v>5018273000</c:v>
                </c:pt>
                <c:pt idx="2">
                  <c:v>6192521000</c:v>
                </c:pt>
                <c:pt idx="3">
                  <c:v>5591837000</c:v>
                </c:pt>
                <c:pt idx="4">
                  <c:v>5271044000</c:v>
                </c:pt>
                <c:pt idx="5">
                  <c:v>5431919000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POLITEKNIK NEGERI MALANG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13258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9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D4 Sistem Informasi Bisnis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26517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103601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Pengumpulan dan Penyajian Data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480560" y="4343400"/>
            <a:ext cx="322783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5720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9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 — SIB263009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0" y="49377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Pramana Yoga Saputra, S.Kom., MMT.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0" y="612648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Kasus: PT Elektronik Prima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SUB-CPMK 03.2.1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 Pembelajaran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E9F2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89280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Membedakan cara data dikumpulkan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perbedaan data primer vs sekunder, dan mengenali metode observasi, survei, wawancara, serta eksperimen.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E9F2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9659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78040" y="189280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tabel frekuensi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6060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dan membaca tabel frekuensi untuk data kategorik, serta distribusi frekuensi bergolong untuk data numerik.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E9F2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22452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Memilih grafik yang tepat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9377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Menentukan jenis grafik (bar, pie, histogram, line) sesuai pertanyaan bisnis yang ingin dijawab.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402336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E9F2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42976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78040" y="422452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Menyajikan data secara jujur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49377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prinsip visualisasi yang baik agar grafik tidak menyesatkan pembacanya.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 — SIB263009  |  Pertemuan 2  |  Pengumpulan dan Penyajian Data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Pertanyaan dari Manajer Regional Elektronik Prima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949440" cy="3200400"/>
          </a:xfrm>
          <a:prstGeom prst="roundRect">
            <a:avLst>
              <a:gd name="adj" fmla="val 285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48840"/>
            <a:ext cx="6309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Kategori produk apa yang paling laku? Cabang mana penjualannya paling tinggi bulan ini?</a:t>
            </a:r>
            <a:endParaRPr lang="en-US" sz="4600" dirty="0"/>
          </a:p>
          <a:p>
            <a:pPr indent="0" marL="0">
              <a:buNone/>
            </a:pPr>
            <a:r>
              <a:rPr lang="en-US" sz="1300" dirty="0">
                <a:solidFill>
                  <a:srgbClr val="E9F2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 — Manajer Regional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772400" y="1828800"/>
            <a:ext cx="3886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mentah di tabel transaksi tidak langsung menjawab pertanyaan ini. Tugas kita: mengumpulkan &amp; menyajikan data sehingga jawabannya terlihat sekilas pandang — lewat tabel ringkas dan grafik yang tepat.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 kamu hari ini: analis data yang mengubah 2.200 baris transaksi mentah menjadi jawaban visual yang jelas.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 — SIB263009  |  Pertemuan 2  |  Pengumpulan dan Penyajian Data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INTI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Metode Pengumpulan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data bisa diolah, data harus dikumpulkan dulu. Ada beberapa cara umum: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E9F2F7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77340" y="22860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57734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30175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Observasi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22402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Mengamati &amp; mencatat kejadian apa adanya. Contoh: sistem kasir mencatat tiap transaksi terjadi.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29000" y="201168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7FAFC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57700" y="22860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45770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66160" y="30175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11880" y="3520440"/>
            <a:ext cx="22402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Menyebarkan kuesioner ke banyak responden. Contoh: survei kepuasan pelanggan Elektronik Prima.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201168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E9F2F7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38060" y="22860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33806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46520" y="30175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Wawancara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3520440"/>
            <a:ext cx="22402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Tanya-jawab langsung, biasanya lebih mendalam. Contoh: wawancara pelanggan VIP soal pengalaman belanja.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89720" y="201168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7FAFC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18420" y="22860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1021842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326880" y="30175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Eksperimen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372600" y="3520440"/>
            <a:ext cx="22402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 perlakuan lalu mengukur efeknya. Contoh: menjalankan promo di sebagian cabang, membandingkan hasilnya.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 — SIB263009  |  Pertemuan 2  |  Pengumpulan dan Penyajian Data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INTI 1 (LANJUTAN)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Primer vs Data Sekunder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3931920"/>
          </a:xfrm>
          <a:prstGeom prst="roundRect">
            <a:avLst>
              <a:gd name="adj" fmla="val 2326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Primer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yang dikumpulkan LANGSUNG oleh kita, untuk tujuan penelitian kita sendiri.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3657600"/>
            <a:ext cx="46177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794760"/>
            <a:ext cx="4251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di Elektronik Prima: kuesioner kepuasan pelanggan yang disebar khusus untuk mengukur skor kualitas produk, pelayanan, dan harga.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257800" cy="3931920"/>
          </a:xfrm>
          <a:prstGeom prst="roundRect">
            <a:avLst>
              <a:gd name="adj" fmla="val 2326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87452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Sekunder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680" y="251460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yang SUDAH ADA / dikumpulkan pihak lain untuk tujuan lain, lalu kita pakai ulang.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83680" y="3657600"/>
            <a:ext cx="46177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3794760"/>
            <a:ext cx="4251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di Elektronik Prima: data transaksi dari sistem kasir. Kasir mencatatnya untuk keperluan penjualan, bukan untuk penelitian kita — tapi kita manfaatkan.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 — SIB263009  |  Pertemuan 2  |  Pengumpulan dan Penyajian Data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INTI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 Frekuensi (Data Kategorik)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Frekuensi</a:t>
            </a:r>
            <a:pPr indent="0" marL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berapa kali suatu kategori muncul dalam data. Tabel frekuensi merangkum data kategorik (mis. nama cabang) menjadi hitungan yang mudah dibaca — dari ribuan baris menjadi beberapa baris ringkasan.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membacanya: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6949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baris = satu kategori (mis. “Malang”, “Surabaya”).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frekuensi = jumlah baris data yang masuk kategori itu.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semua frekuensi = total baris data.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ditambah kolom persentase agar mudah dibandingkan.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72400" y="1417320"/>
            <a:ext cx="3886200" cy="4023360"/>
          </a:xfrm>
          <a:prstGeom prst="roundRect">
            <a:avLst>
              <a:gd name="adj" fmla="val 1882"/>
            </a:avLst>
          </a:prstGeom>
          <a:solidFill>
            <a:srgbClr val="E9F2F7"/>
          </a:solidFill>
          <a:ln/>
        </p:spPr>
      </p:sp>
      <p:sp>
        <p:nvSpPr>
          <p:cNvPr id="8" name="Text 6"/>
          <p:cNvSpPr/>
          <p:nvPr/>
        </p:nvSpPr>
        <p:spPr>
          <a:xfrm>
            <a:off x="8001000" y="16002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Notasi Python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01000" y="2011680"/>
            <a:ext cx="3429000" cy="457200"/>
          </a:xfrm>
          <a:prstGeom prst="rect">
            <a:avLst/>
          </a:prstGeom>
          <a:solidFill>
            <a:srgbClr val="21295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df['cabang'].value_counts()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01000" y="2606040"/>
            <a:ext cx="3429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Menghitung frekuensi tiap nilai unik pada kolom ‘cabang’ secara otomatis — inilah cara komputer membuat tabel frekuensi untukmu.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 — SIB263009  |  Pertemuan 2  |  Pengumpulan dan Penyajian Data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PERHITUNGAN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 Frekuensi: Transaksi per Cabang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2.200 transaksi Januari–Juni 2026, berikut jumlah transaksi tiap cabang: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6949440" cy="3291840"/>
        </p:xfrm>
        <a:graphic>
          <a:graphicData uri="http://schemas.openxmlformats.org/drawingml/2006/table">
            <a:tbl>
              <a:tblPr/>
              <a:tblGrid>
                <a:gridCol w="2743200"/>
                <a:gridCol w="283464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Cabang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Frekuensi (jumlah transaksi)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Persentase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Malang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682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31,0%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Surabaya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653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29,7%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Jakarta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529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24,0%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Bandung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336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15,3%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95C"/>
                          </a:solidFill>
                        </a:rPr>
                        <a:t>Total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1295C"/>
                          </a:solidFill>
                        </a:rPr>
                        <a:t>2.200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1295C"/>
                          </a:solidFill>
                        </a:rPr>
                        <a:t>100%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1965960"/>
            <a:ext cx="3840480" cy="3291840"/>
          </a:xfrm>
          <a:prstGeom prst="roundRect">
            <a:avLst>
              <a:gd name="adj" fmla="val 2222"/>
            </a:avLst>
          </a:prstGeom>
          <a:solidFill>
            <a:srgbClr val="E9F2F7"/>
          </a:solidFill>
          <a:ln/>
        </p:spPr>
      </p:sp>
      <p:sp>
        <p:nvSpPr>
          <p:cNvPr id="7" name="Text 4"/>
          <p:cNvSpPr/>
          <p:nvPr/>
        </p:nvSpPr>
        <p:spPr>
          <a:xfrm>
            <a:off x="8046720" y="21488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 cepat: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0" y="2514600"/>
            <a:ext cx="3383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Malang adalah cabang dengan transaksi TERBANYAK (682 dari 2.200, atau 31%). Bandung paling sedikit. Ini baru soal JUMLAH transaksi — belum tentu soal nilai Rupiah penjualan (lihat slide bar chart).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 — SIB263009  |  Pertemuan 2  |  Pengumpulan dan Penyajian Data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INTI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Distribusi Frekuensi Bergolong (Data Numerik)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Masalahnya: </a:t>
            </a:r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numerik seperti harga_satuan punya ribuan nilai BERBEDA-BEDA (Rp51.000 sampai Rp14.988.000). Tabel frekuensi biasa (satu baris per nilai) jadi terlalu panjang dan tidak berguna.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Solusinya: </a:t>
            </a:r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kelompokkan nilai ke dalam beberapa kelas interval (rentang angka), lalu hitung frekuensi tiap kelas. Ini disebut distribusi frekuensi bergolong.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5486400" cy="2651760"/>
        </p:xfrm>
        <a:graphic>
          <a:graphicData uri="http://schemas.openxmlformats.org/drawingml/2006/table">
            <a:tbl>
              <a:tblPr/>
              <a:tblGrid>
                <a:gridCol w="3657600"/>
                <a:gridCol w="182880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Kelas Interval Harga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Frekuensi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Rp 0 – 2 juta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680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Rp 2 – 4 juta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344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Rp 4 – 6 juta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393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Rp 6 – 8 juta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380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Rp 8 – 10 juta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109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Rp 10 – 16 juta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</a:rPr>
                        <a:t>294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355080" y="3200400"/>
            <a:ext cx="5303520" cy="2651760"/>
          </a:xfrm>
          <a:prstGeom prst="roundRect">
            <a:avLst>
              <a:gd name="adj" fmla="val 2759"/>
            </a:avLst>
          </a:prstGeom>
          <a:solidFill>
            <a:srgbClr val="E9F2F7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0" y="3383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 dipakai kelas interval?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83680" y="3794760"/>
            <a:ext cx="48463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kali datanya berupa ANGKA kontinu dengan banyak nilai unik: harga, usia, rating, biaya iklan, dsb. Lebar tiap kelas sebaiknya sama, dan setiap data harus masuk tepat satu kelas (tidak tumpang tindih).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 — SIB263009  |  Pertemuan 2  |  Pengumpulan dan Penyajian Data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INTI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Jenis Grafik &amp; Kapan Memakainya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utama: pilih grafik sesuai PERTANYAAN yang ingin dijawab, bukan sesuka hati.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6040" cy="3657600"/>
          </a:xfrm>
          <a:prstGeom prst="roundRect">
            <a:avLst>
              <a:gd name="adj" fmla="val 2807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945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 Chart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67919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9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“Mana yang lebih besar?”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Membandingkan nilai antar kategori (mis. total penjualan tiap cabang).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1965960"/>
            <a:ext cx="2606040" cy="3657600"/>
          </a:xfrm>
          <a:prstGeom prst="roundRect">
            <a:avLst>
              <a:gd name="adj" fmla="val 2807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21945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Pie Chart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267919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9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“Berapa proporsinya?”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11880" y="3246120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Menunjukkan bagian dari keseluruhan. Hati-hati bila kategori terlalu banyak — jadi sulit dibaca.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1965960"/>
            <a:ext cx="2606040" cy="3657600"/>
          </a:xfrm>
          <a:prstGeom prst="roundRect">
            <a:avLst>
              <a:gd name="adj" fmla="val 2807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1945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67919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9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“Bagaimana sebarannya?”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92240" y="3246120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sebaran data numerik (mis. sebaran harga produk) dalam kelas interval.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89720" y="1965960"/>
            <a:ext cx="2606040" cy="3657600"/>
          </a:xfrm>
          <a:prstGeom prst="roundRect">
            <a:avLst>
              <a:gd name="adj" fmla="val 2807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0" y="21945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Chart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26880" y="267919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9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“Bagaimana trennya?”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372600" y="3246120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Menunjukkan perubahan nilai dari waktu ke waktu (mis. penjualan per bulan).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 — SIB263009  |  Pertemuan 2  |  Pengumpulan dan Penyajian Data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PERHITUNGAN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 Chart: Total Penjualan per Cabang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70408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63040"/>
            <a:ext cx="3840480" cy="4206240"/>
          </a:xfrm>
          <a:prstGeom prst="roundRect">
            <a:avLst>
              <a:gd name="adj" fmla="val 1905"/>
            </a:avLst>
          </a:prstGeom>
          <a:solidFill>
            <a:srgbClr val="E9F2F7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1645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bisnis: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46720" y="2057400"/>
            <a:ext cx="33832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Meski Malang unggul di jumlah transaksi maupun total Rupiah (≈ Rp10,5 M), urutannya sama dengan tabel frekuensi sebelumnya. Bar chart membuat perbandingan antar cabang langsung terlihat — tanpa perlu baca angka satu per satu.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 — SIB263009  |  Pertemuan 2  |  Pengumpulan dan Penyajian Data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PERHITUNGAN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Pie Chart: Proporsi Metode Pembayaran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46304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40880" y="1463040"/>
            <a:ext cx="4617720" cy="4206240"/>
          </a:xfrm>
          <a:prstGeom prst="roundRect">
            <a:avLst>
              <a:gd name="adj" fmla="val 1739"/>
            </a:avLst>
          </a:prstGeom>
          <a:solidFill>
            <a:srgbClr val="E9F2F7"/>
          </a:solidFill>
          <a:ln/>
        </p:spPr>
      </p:sp>
      <p:sp>
        <p:nvSpPr>
          <p:cNvPr id="6" name="Text 3"/>
          <p:cNvSpPr/>
          <p:nvPr/>
        </p:nvSpPr>
        <p:spPr>
          <a:xfrm>
            <a:off x="7269480" y="164592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cocok pakai pie chart di sini?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269480" y="2240280"/>
            <a:ext cx="4160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4 kategori — masih mudah dibaca sebagai “potongan kue” dari keseluruhan pembayaran.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kategorinya belasan, pie chart jadi sulit dibaca — lebih baik pakai bar chart.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E-Wallet mendominasi (34,9%) — relevan untuk keputusan kerja sama dengan penyedia e-wallet.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 — SIB263009  |  Pertemuan 2  |  Pengumpulan dan Penyajian Data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PERHITUNGAN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Histogram: Sebaran Harga Satuan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70408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63040"/>
            <a:ext cx="3840480" cy="4206240"/>
          </a:xfrm>
          <a:prstGeom prst="roundRect">
            <a:avLst>
              <a:gd name="adj" fmla="val 1905"/>
            </a:avLst>
          </a:prstGeom>
          <a:solidFill>
            <a:srgbClr val="E9F2F7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1645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vs Bar Chart: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46720" y="2057400"/>
            <a:ext cx="33832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Terlihat serupa, tapi histogram menyajikan data NUMERIK yang dikelompokkan jadi kelas interval (sumbu-x = rentang angka berurutan), sedangkan bar chart membandingkan KATEGORI (sumbu-x = nama-nama berbeda). Di sini terlihat produk termurah (&lt; Rp2 juta) paling banyak jumlahnya.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 — SIB263009  |  Pertemuan 2  |  Pengumpulan dan Penyajian Data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PERHITUNGAN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Chart: Tren Penjualan per Bulan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70408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63040"/>
            <a:ext cx="3840480" cy="4206240"/>
          </a:xfrm>
          <a:prstGeom prst="roundRect">
            <a:avLst>
              <a:gd name="adj" fmla="val 1905"/>
            </a:avLst>
          </a:prstGeom>
          <a:solidFill>
            <a:srgbClr val="E9F2F7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1645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bisnis: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46720" y="2057400"/>
            <a:ext cx="33832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Terlihat lonjakan di bulan Maret — bertepatan dengan periode promo (1–14 Maret 2026). Line chart adalah grafik terbaik untuk melihat tren dari waktu ke waktu, sesuatu yang tidak terlihat di bar/pie chart.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 — SIB263009  |  Pertemuan 2  |  Pengumpulan dan Penyajian Data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INTI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Prinsip Visualisasi Data yang Baik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E9F2F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109728" cy="1691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Sumbu mulai dari nol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258568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Memotong sumbu-y (tidak dari 0) bisa membuat perbedaan kecil terlihat dramatis — menyesatkan.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E9F2F7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1600200"/>
            <a:ext cx="109728" cy="1691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76479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Judul &amp; label jelas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2258568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Pembaca harus tahu grafik ini tentang apa, satuan apa (Rupiah? unit?), tanpa perlu bertanya.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E9F2F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566160"/>
            <a:ext cx="109728" cy="1691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73075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sesuai data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4224528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pakai pie chart untuk tren waktu, atau line chart untuk kategori tanpa urutan.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356616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E9F2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3566160"/>
            <a:ext cx="109728" cy="1691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373075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terlalu ramai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83680" y="4224528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Terlalu banyak kategori/warna dalam satu grafik membuat pesan utama tenggelam.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 — SIB263009  |  Pertemuan 2  |  Pengumpulan dan Penyajian Data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KERJANYA DI PYTHON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Preview: Detail lengkap ada di jobsheet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766560" cy="4572000"/>
          </a:xfrm>
          <a:prstGeom prst="roundRect">
            <a:avLst>
              <a:gd name="adj" fmla="val 1600"/>
            </a:avLst>
          </a:prstGeom>
          <a:solidFill>
            <a:srgbClr val="1620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6309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pd.read_csv('transaksi_elektronikprima.csv')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Tabel frekuensi kategorik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df['cabang'].value_counts()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Tabulasi silang 2 variabel kategorik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pd.crosstab(df['cabang'], df['kategori_produk'])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Grafik: bar, pie, histogram, line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df.groupby('cabang')['total_penjualan'].sum().plot(kind='bar')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543800" y="1508760"/>
            <a:ext cx="4114800" cy="4572000"/>
          </a:xfrm>
          <a:prstGeom prst="roundRect">
            <a:avLst>
              <a:gd name="adj" fmla="val 1778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Padanan konsep: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0" y="2148840"/>
            <a:ext cx="3657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9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value_counts()</a:t>
            </a:r>
            <a:pPr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tabel frekuensi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9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crosstab()</a:t>
            </a:r>
            <a:pPr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tabel frekuensi silang 2 variabel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9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.plot(kind=...)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membuat grafik (bar/pie/hist/line)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 — SIB263009  |  Pertemuan 2  |  Pengumpulan dan Penyajian Data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Miskonsepsi &amp; Kesalahan yang Sering Terjadi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BEFE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109728" cy="16916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46504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“Frekuensi terbanyak = paling untung”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Cabang dengan transaksi terbanyak belum tentu penjualan (Rupiah) tertinggi — tergantung harga &amp; jumlah unit tiap transaksi. Selalu cek kedua angka.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BEFEC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1600200"/>
            <a:ext cx="109728" cy="16916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746504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untuk semua kategori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228600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kategori lebih dari 5–6, pie chart jadi sulit dibaca (potongan terlalu kecil/mirip). Gunakan bar chart.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BEFEC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566160"/>
            <a:ext cx="109728" cy="16916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712464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Menyamakan data primer &amp; sekunder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425196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yang ‘sudah ada di sistem’ tetap sekunder bagi kita, meski terasa ‘baru’/real-time.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56616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BEFEC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3566160"/>
            <a:ext cx="109728" cy="16916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3712464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interval tumpang tindih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425196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 kelas seperti ‘0–2jt’ dan ‘2–4jt’ harus jelas milik siapa angka ‘tepat 2jt’ — hindari kelas yang ambigu.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 — SIB263009  |  Pertemuan 2  |  Pengumpulan dan Penyajian Data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RANGKUMAN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Ringkasan Pertemuan Ini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618488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dikumpulkan lewat observasi, survei, wawancara, atau eksperimen — bisa data primer (dikumpulkan sendiri) atau sekunder (sudah ada).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715768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frekuensi meringkas data kategorik: berapa kali tiap kategori muncul. Untuk data numerik dengan banyak nilai unik, gunakan distribusi frekuensi bergolong (kelas interval).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3813048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grafik sesuai pertanyaan: bar (bandingkan kategori), pie (proporsi, kategori sedikit), histogram (sebaran numerik), line (tren waktu).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4910328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yang baik jujur: sumbu jelas dari nol, judul &amp; label lengkap, tidak berlebihan.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 — SIB263009  |  Pertemuan 2  |  Pengumpulan dan Penyajian Data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5448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SELANJUTNYA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192024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Saatnya Praktik!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828800" y="2834640"/>
            <a:ext cx="85313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9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Jobsheet Pertemuan 2 untuk membuat tabel frekuensi, crosstab, dan keempat jenis grafik menggunakan data transaksi Elektronik Prima yang sesungguhnya.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480560" y="3977640"/>
            <a:ext cx="3227832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2062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berikutnya: Ukuran Pemusatan Data (Mean, Median, Modus)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 — SIB263009  |  Pramana Yoga Saputra, S.Kom., MMT.  |  D4 Sistem Informasi Bisnis, Polinema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2026-08-23T08:15:24Z</dcterms:created>
  <dcterms:modified xsi:type="dcterms:W3CDTF">2026-08-23T08:15:24Z</dcterms:modified>
</cp:coreProperties>
</file>