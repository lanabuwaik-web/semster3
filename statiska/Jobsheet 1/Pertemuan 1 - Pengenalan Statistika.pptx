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5LScSNKsKR3QkN6BQpUGHq5CR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POLITEKNIK NEGERI MALANG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20" y="214884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Program Studi D4 Sistem Informasi Bisnis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Pertemuan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Pengenalan Statistika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4718304" y="416052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Membaca Data untuk Mengambil Keputusan Bisnis — Studi Kasus Elektronik Prima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Mata Kuliah Statistika — SIB263009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Pramana Yoga Saputra, S.Kom., MMT.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TUJUAN PEMBELAJARAN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Setelah pertemuan ini, kamu bisa...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234440" y="1874520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Menjelaskan apa itu statistika  </a:t>
            </a:r>
            <a:r>
              <a:rPr lang="en-US" sz="13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dan mengapa penting untuk pengambilan keputusan bisnis — bukan sekadar "ilmu hitung angka".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48640" y="27614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34440" y="2715768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Membedakan statistika deskriptif &amp; inferensial  </a:t>
            </a:r>
            <a:r>
              <a:rPr lang="en-US" sz="13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dengan contoh nyata dari data penjualan Elektronik Prima.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48640" y="36027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34440" y="3557016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Membedakan populasi &amp; sampel  </a:t>
            </a:r>
            <a:r>
              <a:rPr lang="en-US" sz="13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serta menjelaskan mengapa kita sering menganalisis sampel, bukan seluruh populasi.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48640" y="44439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34440" y="4398264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Mengenali jenis-jenis data  </a:t>
            </a:r>
            <a:r>
              <a:rPr lang="en-US" sz="13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(nominal, ordinal, interval, rasio) pada kolom-kolom dataset nyata.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48640" y="528523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48640" y="5285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34440" y="5239512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Memuat &amp; mengintip dataset dengan Python  </a:t>
            </a:r>
            <a:r>
              <a:rPr lang="en-US" sz="13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menggunakan pandas sebagai alat kerja analis data.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STUDI KASUS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914400"/>
            <a:ext cx="11064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Elektronik Prima Punya Ribuan Data...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tapi Belum Tahu Cara Membacanya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2514600"/>
            <a:ext cx="5212080" cy="3566160"/>
          </a:xfrm>
          <a:prstGeom prst="roundRect">
            <a:avLst>
              <a:gd fmla="val 2051" name="adj"/>
            </a:avLst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868680" y="2697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Latar Belakang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68680" y="3108960"/>
            <a:ext cx="45720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Elektronik Prima adalah retail elektronik dengan 4 cabang (Malang, Surabaya, Jakarta, Bandung) yang menjual Laptop, Smartphone, Aksesoris, dan Elektronik Rumah Tangga.</a:t>
            </a:r>
            <a:br>
              <a:rPr lang="en-US" sz="13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Sepanjang semester ini, kamu berperan sebagai </a:t>
            </a: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 data baru</a:t>
            </a:r>
            <a:r>
              <a:rPr lang="en-US" sz="13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yang membantu manajemen mengambil keputusan berbasis data.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035040" y="2514600"/>
            <a:ext cx="562356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355080" y="26974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Pertanyaan yang Ingin Dijawab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355080" y="3227832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629400" y="3063240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Cabang mana yang penjualannya paling tinggi?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355080" y="3822192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629400" y="3657600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Apakah promo Maret 2026 benar-benar menaikkan penjualan?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355080" y="4416552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629400" y="4251960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Apakah biaya iklan berhubungan dengan penjualan?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355080" y="5010912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629400" y="4846320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Bagaimana kepuasan pelanggan di tiap cabang?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355080" y="55778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Pertemuan ini adalah langkah pertama: mengenal alat &amp; konsep dasarnya.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KONSEP INTI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Apa itu Statistika?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48640" y="1874520"/>
            <a:ext cx="11064240" cy="1188720"/>
          </a:xfrm>
          <a:prstGeom prst="roundRect">
            <a:avLst>
              <a:gd fmla="val 615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868680" y="187452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Statistika </a:t>
            </a:r>
            <a:r>
              <a:rPr lang="en-US" sz="15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adalah cara mengumpulkan, mengolah, meringkas, dan menafsirkan data agar bisa dipakai untuk mengambil keputusan — </a:t>
            </a:r>
            <a:r>
              <a:rPr b="1" i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bukan sekadar hitung-hitungan angka.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Kenapa penting untuk bisnis Elektronik Prima?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fmla="val 3478" name="adj"/>
            </a:avLst>
          </a:prstGeom>
          <a:solidFill>
            <a:srgbClr val="E9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868680" y="4023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Tanpa statistika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68680" y="443484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Manajemen menebak-nebak: "sepertinya cabang Jakarta paling laris" — tanpa bukti data.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355080" y="3794760"/>
            <a:ext cx="5440680" cy="2103120"/>
          </a:xfrm>
          <a:prstGeom prst="roundRect">
            <a:avLst>
              <a:gd fmla="val 3478" name="adj"/>
            </a:avLst>
          </a:prstGeom>
          <a:solidFill>
            <a:srgbClr val="E1EA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675120" y="4023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Dengan statistika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675120" y="443484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Manajemen tahu pasti: rata-rata penjualan tiap cabang, dan apakah bedanya nyata atau kebetulan.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KONSEP INTI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Dua Cabang Statistika: Deskriptif vs Inferensial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1828800"/>
            <a:ext cx="5440680" cy="4160520"/>
          </a:xfrm>
          <a:prstGeom prst="roundRect">
            <a:avLst>
              <a:gd fmla="val 1758" name="adj"/>
            </a:avLst>
          </a:prstGeom>
          <a:solidFill>
            <a:srgbClr val="EDF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Statistika Deskriptif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68680" y="251460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Meringkas &amp; menggambarkan data yang SUDAH kamu punya.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68680" y="3429000"/>
            <a:ext cx="4800600" cy="16002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51560" y="35204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Contoh Elektronik Prima: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51560" y="3794760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"Rata-rata harga laptop yang terjual bulan Januari adalah Rp 13,2 juta."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68680" y="516636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Tidak menyimpulkan apa pun di luar data yang ada.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355080" y="1828800"/>
            <a:ext cx="5440680" cy="4160520"/>
          </a:xfrm>
          <a:prstGeom prst="roundRect">
            <a:avLst>
              <a:gd fmla="val 1758" name="adj"/>
            </a:avLst>
          </a:prstGeom>
          <a:solidFill>
            <a:srgbClr val="F3EC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675120" y="2011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8A5A2B"/>
                </a:solidFill>
                <a:latin typeface="Cambria"/>
                <a:ea typeface="Cambria"/>
                <a:cs typeface="Cambria"/>
                <a:sym typeface="Cambria"/>
              </a:rPr>
              <a:t>Statistika Inferensial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675120" y="251460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Menarik KESIMPULAN atau prediksi dari sampel data ke populasi yang lebih luas.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675120" y="3429000"/>
            <a:ext cx="4800600" cy="16002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858000" y="35204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Contoh Elektronik Prima: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858000" y="3794760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"Berdasarkan sampel transaksi Maret, promo diperkirakan menaikkan penjualan secara nyata (bukan kebetulan)."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675120" y="516636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Melibatkan ketidakpastian &amp; pengujian (nanti di pertemuan lanjutan).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KONSEP INTI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Populasi vs Sampel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Populasi </a:t>
            </a:r>
            <a:r>
              <a:rPr lang="en-US" sz="14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= seluruh anggota kelompok yang ingin kita pelajari.   </a:t>
            </a:r>
            <a:r>
              <a:rPr b="1" lang="en-US" sz="1500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Sampel </a:t>
            </a:r>
            <a:r>
              <a:rPr lang="en-US" sz="14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= sebagian kecil dari populasi yang benar-benar kita amati/survei.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600200" y="2788920"/>
            <a:ext cx="3383280" cy="3383280"/>
          </a:xfrm>
          <a:prstGeom prst="ellipse">
            <a:avLst/>
          </a:prstGeom>
          <a:solidFill>
            <a:srgbClr val="EDF1FA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600200" y="29260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POPULASI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600200" y="324612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500 pelanggan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terdaftar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108960" y="4297680"/>
            <a:ext cx="1371600" cy="1371600"/>
          </a:xfrm>
          <a:prstGeom prst="ellipse">
            <a:avLst/>
          </a:prstGeom>
          <a:solidFill>
            <a:srgbClr val="F3ECE0"/>
          </a:solidFill>
          <a:ln cap="flat" cmpd="sng" w="19050">
            <a:solidFill>
              <a:srgbClr val="8A5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108960" y="42976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SAMPEL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50 orang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035040" y="3063240"/>
            <a:ext cx="562356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9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309360" y="3246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Analogi di Elektronik Prima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309360" y="3657600"/>
            <a:ext cx="5120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Elektronik Prima punya </a:t>
            </a:r>
            <a:r>
              <a:rPr b="1"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500 pelanggan terdaftar</a:t>
            </a: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 (populasi). Mensurvei kepuasan ke-500 orang itu satu per satu memakan waktu &amp; biaya besar.</a:t>
            </a:r>
            <a:b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Solusinya: ambil </a:t>
            </a:r>
            <a:r>
              <a:rPr b="1"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sampel</a:t>
            </a:r>
            <a:r>
              <a:rPr lang="en-US" sz="13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, misalnya 50 pelanggan saja, lalu gunakan hasilnya untuk menggambarkan keseluruhan populasi.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CONTOH PERHITUNGAN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Populasi &amp; Sampel dalam Angka Nyata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Dataset populasi_pelanggan_elektronikprima.csv berisi 500 baris — satu baris = satu pelanggan terdaftar.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246888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48640" y="2606040"/>
            <a:ext cx="3520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500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48640" y="347472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baris = populasi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pelanggan terdaftar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434840" y="246888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434840" y="2606040"/>
            <a:ext cx="3520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434840" y="347472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baris jika kita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ambil sampel 10%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321040" y="246888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321040" y="2606040"/>
            <a:ext cx="3520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321040" y="347472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cabang yang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tercakup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4480560"/>
            <a:ext cx="11064240" cy="1600200"/>
          </a:xfrm>
          <a:prstGeom prst="roundRect">
            <a:avLst>
              <a:gd fmla="val 457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822960" y="46177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Kenapa tidak langsung pakai semua 500 data saja kalau sudah tersedia?  </a:t>
            </a: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Karena dalam praktiknya, data populasi lengkap sering TIDAK tersedia (butuh survei baru, biaya, waktu). Teknik sampling — cara mengambil sampel yang representatif — akan kita bahas mendalam di pertemuan sampling.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KONSEP INTI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Variabel dan Jenis Data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22960" y="182880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Variabel </a:t>
            </a:r>
            <a:r>
              <a:rPr lang="en-US" sz="14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= karakteristik yang nilainya bisa berbeda-beda antar baris data. Contoh: setiap baris transaksi punya nilai berbeda untuk kolom </a:t>
            </a: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cabang</a:t>
            </a:r>
            <a:r>
              <a:rPr lang="en-US" sz="14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harga_satuan</a:t>
            </a:r>
            <a:r>
              <a:rPr lang="en-US" sz="14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, dst.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48640" y="28803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350"/>
              <a:buFont typeface="Calibri"/>
              <a:buNone/>
            </a:pPr>
            <a:r>
              <a:rPr i="1" lang="en-US" sz="135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Jenis data menentukan teknik analisis apa yang boleh dipakai nanti — jadi wajib dikenali dulu.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48640" y="3429000"/>
            <a:ext cx="5440680" cy="2651760"/>
          </a:xfrm>
          <a:prstGeom prst="roundRect">
            <a:avLst>
              <a:gd fmla="val 2759" name="adj"/>
            </a:avLst>
          </a:prstGeom>
          <a:solidFill>
            <a:srgbClr val="F3EC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868680" y="36118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8A5A2B"/>
                </a:solidFill>
                <a:latin typeface="Cambria"/>
                <a:ea typeface="Cambria"/>
                <a:cs typeface="Cambria"/>
                <a:sym typeface="Cambria"/>
              </a:rPr>
              <a:t>Data Kualitatif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68680" y="406908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Berupa kategori/label, bukan angka yang bisa dihitung matematis.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68680" y="4937760"/>
            <a:ext cx="48006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051560" y="4937760"/>
            <a:ext cx="4434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A5A2B"/>
                </a:solidFill>
                <a:latin typeface="Calibri"/>
                <a:ea typeface="Calibri"/>
                <a:cs typeface="Calibri"/>
                <a:sym typeface="Calibri"/>
              </a:rPr>
              <a:t>Nominal (tanpa urutan) &amp; Ordinal (ada urutan)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355080" y="3429000"/>
            <a:ext cx="5440680" cy="2651760"/>
          </a:xfrm>
          <a:prstGeom prst="roundRect">
            <a:avLst>
              <a:gd fmla="val 2759" name="adj"/>
            </a:avLst>
          </a:prstGeom>
          <a:solidFill>
            <a:srgbClr val="EDF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675120" y="36118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Kuantitatif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675120" y="406908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Berupa angka yang bisa dihitung &amp; dioperasikan secara matematis.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675120" y="4937760"/>
            <a:ext cx="48006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858000" y="4937760"/>
            <a:ext cx="4434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Interval (tanpa nol mutlak) &amp; Rasio (ada nol mutlak)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KONSEP INTI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Kualitatif: Nominal vs Ordinal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48640" y="1874520"/>
            <a:ext cx="11064240" cy="1965960"/>
          </a:xfrm>
          <a:prstGeom prst="roundRect">
            <a:avLst>
              <a:gd fmla="val 3721" name="adj"/>
            </a:avLst>
          </a:prstGeom>
          <a:solidFill>
            <a:srgbClr val="F3EC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68680" y="203911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2B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8A5A2B"/>
                </a:solidFill>
                <a:latin typeface="Cambria"/>
                <a:ea typeface="Cambria"/>
                <a:cs typeface="Cambria"/>
                <a:sym typeface="Cambria"/>
              </a:rPr>
              <a:t>Nominal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868680" y="2532888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Kategori tanpa urutan/tingkatan tertentu.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840480" y="2075688"/>
            <a:ext cx="745236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114800" y="21945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Kolom dataset Elektronik Prima: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114800" y="2496312"/>
            <a:ext cx="6949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cabang (Malang/Surabaya/Jakarta/Bandung), metode_pembayaran (Tunai/Debit/Kredit/E-Wallet)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fmla="val 3721" name="adj"/>
            </a:avLst>
          </a:prstGeom>
          <a:solidFill>
            <a:srgbClr val="F6E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868680" y="423367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B85042"/>
                </a:solidFill>
                <a:latin typeface="Cambria"/>
                <a:ea typeface="Cambria"/>
                <a:cs typeface="Cambria"/>
                <a:sym typeface="Cambria"/>
              </a:rPr>
              <a:t>Ordinal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68680" y="4727448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Kategori dengan urutan/tingkatan yang bermakna.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840480" y="4270248"/>
            <a:ext cx="745236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114800" y="438912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Kolom dataset Elektronik Prima: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114800" y="4690872"/>
            <a:ext cx="6949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rating_kepuasan (1=sangat tidak puas ... 5=sangat puas) — 5 lebih baik dari 1, tapi jaraknya tidak selalu sama rasa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KONSEP INTI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Numerik: Interval vs Rasio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48640" y="1874520"/>
            <a:ext cx="11064240" cy="1965960"/>
          </a:xfrm>
          <a:prstGeom prst="roundRect">
            <a:avLst>
              <a:gd fmla="val 3721" name="adj"/>
            </a:avLst>
          </a:prstGeom>
          <a:solidFill>
            <a:srgbClr val="E7EE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868680" y="203911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808E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50808E"/>
                </a:solidFill>
                <a:latin typeface="Cambria"/>
                <a:ea typeface="Cambria"/>
                <a:cs typeface="Cambria"/>
                <a:sym typeface="Cambria"/>
              </a:rPr>
              <a:t>Interval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68680" y="2468880"/>
            <a:ext cx="2743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Angka dengan jarak yang bermakna, TAPI titik nol-nya tidak berarti "tidak ada sama sekali".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840480" y="2075688"/>
            <a:ext cx="745236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114800" y="21945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Kolom dataset Elektronik Prima: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114800" y="2496312"/>
            <a:ext cx="6949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Bukan dari dataset ini, contoh umum: suhu dalam °C (0°C bukan berarti tidak ada suhu)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fmla="val 3721" name="adj"/>
            </a:avLst>
          </a:prstGeom>
          <a:solidFill>
            <a:srgbClr val="EDF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68680" y="423367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Rasio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868680" y="4663440"/>
            <a:ext cx="2743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Angka dengan jarak bermakna DAN titik nol berarti "benar-benar tidak ada". Bisa dibandingkan sebagai kelipatan.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840480" y="4270248"/>
            <a:ext cx="7452360" cy="155448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114800" y="438912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Kolom dataset Elektronik Prima: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114800" y="4690872"/>
            <a:ext cx="6949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harga_satuan, jumlah_terjual, total_penjualan, usia_pelanggan, biaya_iklan_harian — semua bisa bernilai 0 yang berarti "tidak ada", dan Rp 20 juta = 2x dari Rp 10 juta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KONSEP INTI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Kenapa Jenis Data Ini Penting?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Jenis data menentukan ringkasan &amp; teknik analisis apa yang MASUK AKAL dipakai.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48640" y="2423160"/>
            <a:ext cx="3474720" cy="685800"/>
          </a:xfrm>
          <a:prstGeom prst="rect">
            <a:avLst/>
          </a:prstGeom>
          <a:solidFill>
            <a:srgbClr val="E8A33D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40080" y="24231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Kolom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023360" y="2423160"/>
            <a:ext cx="2651760" cy="685800"/>
          </a:xfrm>
          <a:prstGeom prst="rect">
            <a:avLst/>
          </a:prstGeom>
          <a:solidFill>
            <a:srgbClr val="E8A33D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114800" y="242316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Jenis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675120" y="2423160"/>
            <a:ext cx="4937760" cy="685800"/>
          </a:xfrm>
          <a:prstGeom prst="rect">
            <a:avLst/>
          </a:prstGeom>
          <a:solidFill>
            <a:srgbClr val="E8A33D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6766560" y="242316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Boleh dihitung rata-rata?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48640" y="3108960"/>
            <a:ext cx="3474720" cy="685800"/>
          </a:xfrm>
          <a:prstGeom prst="rect">
            <a:avLst/>
          </a:prstGeom>
          <a:solidFill>
            <a:srgbClr val="24316F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640080" y="31089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cabang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023360" y="3108960"/>
            <a:ext cx="2651760" cy="685800"/>
          </a:xfrm>
          <a:prstGeom prst="rect">
            <a:avLst/>
          </a:prstGeom>
          <a:solidFill>
            <a:srgbClr val="24316F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114800" y="310896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675120" y="3108960"/>
            <a:ext cx="4937760" cy="685800"/>
          </a:xfrm>
          <a:prstGeom prst="rect">
            <a:avLst/>
          </a:prstGeom>
          <a:solidFill>
            <a:srgbClr val="24316F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766560" y="310896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Tidak — "rata-rata cabang" tidak bermakna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48640" y="3794760"/>
            <a:ext cx="3474720" cy="685800"/>
          </a:xfrm>
          <a:prstGeom prst="rect">
            <a:avLst/>
          </a:prstGeom>
          <a:solidFill>
            <a:srgbClr val="141B47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40080" y="37947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rating_kepuasan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023360" y="3794760"/>
            <a:ext cx="2651760" cy="685800"/>
          </a:xfrm>
          <a:prstGeom prst="rect">
            <a:avLst/>
          </a:prstGeom>
          <a:solidFill>
            <a:srgbClr val="141B47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114800" y="379476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675120" y="3794760"/>
            <a:ext cx="4937760" cy="685800"/>
          </a:xfrm>
          <a:prstGeom prst="rect">
            <a:avLst/>
          </a:prstGeom>
          <a:solidFill>
            <a:srgbClr val="141B47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6766560" y="379476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Dengan hati-hati — sering diperlakukan sebagai skor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48640" y="4480560"/>
            <a:ext cx="3474720" cy="685800"/>
          </a:xfrm>
          <a:prstGeom prst="rect">
            <a:avLst/>
          </a:prstGeom>
          <a:solidFill>
            <a:srgbClr val="24316F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640080" y="44805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harga_satuan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023360" y="4480560"/>
            <a:ext cx="2651760" cy="685800"/>
          </a:xfrm>
          <a:prstGeom prst="rect">
            <a:avLst/>
          </a:prstGeom>
          <a:solidFill>
            <a:srgbClr val="24316F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114800" y="448056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Rasio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675120" y="4480560"/>
            <a:ext cx="4937760" cy="685800"/>
          </a:xfrm>
          <a:prstGeom prst="rect">
            <a:avLst/>
          </a:prstGeom>
          <a:solidFill>
            <a:srgbClr val="24316F"/>
          </a:solidFill>
          <a:ln cap="flat" cmpd="sng" w="9525">
            <a:solidFill>
              <a:srgbClr val="1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766560" y="448056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 — rata-rata harga sepenuhnya bermakna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ORIENTASI ALAT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Kenapa Python, Bukan Kalkulator Manual?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48640" y="1920240"/>
            <a:ext cx="5440680" cy="1600200"/>
          </a:xfrm>
          <a:prstGeom prst="roundRect">
            <a:avLst>
              <a:gd fmla="val 457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822960" y="2084832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ribuan baris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822960" y="2487168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Dataset transaksi Elektronik Prima punya 2.200 baris — mustahil dihitung manual satu per satu.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355080" y="1920240"/>
            <a:ext cx="5440680" cy="1600200"/>
          </a:xfrm>
          <a:prstGeom prst="roundRect">
            <a:avLst>
              <a:gd fmla="val 457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6629400" y="2084832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Cepat &amp; bisa diulang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629400" y="2487168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Sekali kode ditulis, bisa dijalankan ulang kapan saja data baru masuk (misal transaksi bulan berikutnya).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48640" y="3703320"/>
            <a:ext cx="5440680" cy="1600200"/>
          </a:xfrm>
          <a:prstGeom prst="roundRect">
            <a:avLst>
              <a:gd fmla="val 457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822960" y="3867912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Minim salah hitung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822960" y="4270248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Rumus dihitung otomatis oleh library seperti pandas &amp; numpy, mengurangi risiko human error.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355080" y="3703320"/>
            <a:ext cx="5440680" cy="1600200"/>
          </a:xfrm>
          <a:prstGeom prst="roundRect">
            <a:avLst>
              <a:gd fmla="val 4571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6629400" y="3867912"/>
            <a:ext cx="4892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Kamu sudah tahu dasarnya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629400" y="4270248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Kamu sudah belajar Python dasar semester lalu — pertemuan ini menyambungkannya ke statistika.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PREVIEW PRAKTIK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Cara Kerjanya di Python (Preview)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48640" y="1783080"/>
            <a:ext cx="11064240" cy="4160520"/>
          </a:xfrm>
          <a:prstGeom prst="roundRect">
            <a:avLst>
              <a:gd fmla="val 1758" name="adj"/>
            </a:avLst>
          </a:prstGeom>
          <a:solidFill>
            <a:srgbClr val="0F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868680" y="1965960"/>
            <a:ext cx="10424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# Memuat data transaksi Elektronik Prima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df = pd.read_csv('transaksi_elektronikprima.csv')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df.head()      # intip 5 baris pertama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df.shape       # (jumlah_baris, jumlah_kolom)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df.info()      # nama kolom &amp; jenis datanya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E29B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9CE29B"/>
                </a:solidFill>
                <a:latin typeface="Courier New"/>
                <a:ea typeface="Courier New"/>
                <a:cs typeface="Courier New"/>
                <a:sym typeface="Courier New"/>
              </a:rPr>
              <a:t>df.describe()  # ringkasan statistik kolom numerik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3"/>
          <p:cNvCxnSpPr/>
          <p:nvPr/>
        </p:nvCxnSpPr>
        <p:spPr>
          <a:xfrm>
            <a:off x="868680" y="4754880"/>
            <a:ext cx="10424160" cy="0"/>
          </a:xfrm>
          <a:prstGeom prst="straightConnector1">
            <a:avLst/>
          </a:prstGeom>
          <a:noFill/>
          <a:ln cap="flat" cmpd="sng" w="12700">
            <a:solidFill>
              <a:srgbClr val="3A42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Detail lengkap tiap baris kode + penjelasan artinya </a:t>
            </a: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ada di Jobsheet Pertemuan 1</a:t>
            </a: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— kita praktikkan bersama setelah ini.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HATI-HATI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Miskonsepsi Umum untuk Pemula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731520" y="1901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1143000" y="1883664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3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3B32"/>
                </a:solidFill>
                <a:latin typeface="Calibri"/>
                <a:ea typeface="Calibri"/>
                <a:cs typeface="Calibri"/>
                <a:sym typeface="Calibri"/>
              </a:rPr>
              <a:t>"Statistika = matematika rumit yang harus dihafal."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731520" y="235915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1143000" y="234086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Fokusnya adalah memahami MAKNA angka untuk keputusan, bukan hafal rumus. Python membantu perhitungannya.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48640" y="301752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731520" y="30906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1143000" y="3072384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3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3B32"/>
                </a:solidFill>
                <a:latin typeface="Calibri"/>
                <a:ea typeface="Calibri"/>
                <a:cs typeface="Calibri"/>
                <a:sym typeface="Calibri"/>
              </a:rPr>
              <a:t>"Sampel besar = pasti hasilnya benar."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31520" y="354787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1143000" y="352958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Sampel yang besar tapi tidak representatif (misal cuma dari 1 cabang) tetap bisa menyesatkan.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731520" y="42793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1143000" y="4261104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3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3B32"/>
                </a:solidFill>
                <a:latin typeface="Calibri"/>
                <a:ea typeface="Calibri"/>
                <a:cs typeface="Calibri"/>
                <a:sym typeface="Calibri"/>
              </a:rPr>
              <a:t>"Kolom rating 1–5 sama seperti kolom harga — sama-sama angka."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731520" y="473659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143000" y="471830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rating_kepuasan bersifat ordinal (urutan, bukan jarak matematis pasti), beda dari harga_satuan yang rasio.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731520" y="5468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143000" y="5449824"/>
            <a:ext cx="9966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3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7A3B32"/>
                </a:solidFill>
                <a:latin typeface="Calibri"/>
                <a:ea typeface="Calibri"/>
                <a:cs typeface="Calibri"/>
                <a:sym typeface="Calibri"/>
              </a:rPr>
              <a:t>"Statistika deskriptif dan inferensial itu sama saja."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31520" y="5925312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1143000" y="590702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5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22530"/>
                </a:solidFill>
                <a:latin typeface="Calibri"/>
                <a:ea typeface="Calibri"/>
                <a:cs typeface="Calibri"/>
                <a:sym typeface="Calibri"/>
              </a:rPr>
              <a:t>Deskriptif meringkas data yang ADA; inferensial menyimpulkan ke luar data yang ada (populasi lebih luas).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F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5F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RINGKASAN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Poin-Poin Kunci Pertemuan Ini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548640" y="192024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1188720" y="187452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Statistika membantu mengubah data mentah Elektronik Prima menjadi keputusan bisnis.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548640" y="269748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188720" y="265176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Deskriptif = meringkas data yang ada. Inferensial = menyimpulkan ke populasi lebih luas.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48640" y="347472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1188720" y="342900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Populasi = semua anggota. Sampel = sebagian yang diamati untuk mewakili populasi.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548640" y="425196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1188720" y="420624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kualitatif (nominal, ordinal) vs kuantitatif (interval, rasio) — jenis data menentukan teknik analisis.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1188720" y="498348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(pandas) adalah alat kerja utama analis data — bukan pengganti pemahaman konsep.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Pertemuan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Langkah Selanjutnya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Saatnya Praktik!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371600" y="2788920"/>
            <a:ext cx="9418320" cy="1920240"/>
          </a:xfrm>
          <a:prstGeom prst="roundRect">
            <a:avLst>
              <a:gd fmla="val 3810" name="adj"/>
            </a:avLst>
          </a:prstGeom>
          <a:solidFill>
            <a:srgbClr val="2431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1737360" y="3017520"/>
            <a:ext cx="8686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Buka  </a:t>
            </a:r>
            <a:r>
              <a:rPr b="1" lang="en-US" sz="15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Jobsheet Pertemuan 1 — Pengenalan Statistika</a:t>
            </a: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dan mulai memuat dataset transaksi Elektronik Prima dengan pandas: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kenali bentuk data, jenis kolomnya, dan ringkasannya.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Pertemuan berikutnya: Ukuran Pemusatan Data (Mean, Median, Modus)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1C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1C4"/>
                </a:solidFill>
                <a:latin typeface="Calibri"/>
                <a:ea typeface="Calibri"/>
                <a:cs typeface="Calibri"/>
                <a:sym typeface="Calibri"/>
              </a:rPr>
              <a:t>Statistika — SIB263009  |  Pramana Yoga Saputra, S.Kom., MMT.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2026-08-23T08:14:54Z</dcterms:created>
  <dc:creator>PptxGenJS</dc:creator>
</cp:coreProperties>
</file>